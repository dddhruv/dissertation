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-1138" y="-3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658368"/>
            <a:ext cx="91440" cy="5394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658368"/>
            <a:ext cx="4572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DISSERTATION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34440"/>
            <a:ext cx="8138160" cy="1417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Evaluating AI-Driven
Product Recommendation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7863840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Aptos"/>
              </a:rPr>
              <a:t>Using Sentiment and Rating-Based Consumer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074920"/>
            <a:ext cx="457200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Druv  •  GH1035710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440680"/>
            <a:ext cx="54864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MSc Data Science, AI and Digital Business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806440"/>
            <a:ext cx="77724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GISMA University of Applied Sciences  |  Department of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40080"/>
            <a:ext cx="106984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Background and Motivation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42900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783080"/>
            <a:ext cx="304495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6930"/>
            <a:ext cx="2840195" cy="30100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Product catalogs on the internet contain vast amounts of customer feedback. Recommendation systems need to identify relevant products while maintaining a balance between ranking quality and diversity.</a:t>
            </a:r>
            <a:endParaRPr sz="1600" dirty="0"/>
          </a:p>
        </p:txBody>
      </p:sp>
      <p:sp>
        <p:nvSpPr>
          <p:cNvPr id="10" name="Rounded Rectangle 9"/>
          <p:cNvSpPr/>
          <p:nvPr/>
        </p:nvSpPr>
        <p:spPr>
          <a:xfrm>
            <a:off x="4251960" y="1600200"/>
            <a:ext cx="342900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53128" y="1783080"/>
            <a:ext cx="304495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Why consumer feedback?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2475" y="2356930"/>
            <a:ext cx="2945606" cy="21328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Ratings serve as a tangible measure of customer evaluation. Review text provides linguistic information at the level of the product.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7909560" y="1600200"/>
            <a:ext cx="365760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10728" y="1783080"/>
            <a:ext cx="327355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Research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56930"/>
            <a:ext cx="3063240" cy="21328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Compare TF-IDF sparse representation to a contextual transformer representation for the same product recommendation pipeline.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40080"/>
            <a:ext cx="106984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Aim, Objectives and Research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365760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810512"/>
            <a:ext cx="327355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" y="2405156"/>
            <a:ext cx="2870404" cy="196098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Evaluate AI-based product recommendation techniques based on customer feedback combining sentiments and ratings, comparing TF-IDF-based with transformer-based representation techniques.</a:t>
            </a:r>
            <a:endParaRPr sz="1400" dirty="0"/>
          </a:p>
        </p:txBody>
      </p:sp>
      <p:sp>
        <p:nvSpPr>
          <p:cNvPr id="10" name="Rounded Rectangle 9"/>
          <p:cNvSpPr/>
          <p:nvPr/>
        </p:nvSpPr>
        <p:spPr>
          <a:xfrm>
            <a:off x="4480560" y="1627632"/>
            <a:ext cx="324612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792224"/>
            <a:ext cx="286207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8215" y="2138126"/>
            <a:ext cx="2749097" cy="282538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/>
              <a:t>Create the clean product review data set. </a:t>
            </a:r>
            <a:endParaRPr lang="en-US" sz="1200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/>
              <a:t>Generate </a:t>
            </a:r>
            <a:r>
              <a:rPr lang="en-US" sz="1200" dirty="0"/>
              <a:t>product </a:t>
            </a:r>
            <a:r>
              <a:rPr lang="en-US" sz="1200" dirty="0" smtClean="0"/>
              <a:t>embedding's </a:t>
            </a:r>
            <a:r>
              <a:rPr lang="en-US" sz="1200" dirty="0"/>
              <a:t>based on TF-IDF representation and transformers’ </a:t>
            </a:r>
            <a:r>
              <a:rPr lang="en-US" sz="1200" dirty="0" smtClean="0"/>
              <a:t>embedding's.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/>
              <a:t>Test </a:t>
            </a:r>
            <a:r>
              <a:rPr lang="en-US" sz="1200" dirty="0"/>
              <a:t>the recommendations for K=5, 10, 20. Measure relevance, ranking, diversity, and coverage. </a:t>
            </a:r>
            <a:endParaRPr lang="en-US" sz="1200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/>
              <a:t>Use </a:t>
            </a:r>
            <a:r>
              <a:rPr lang="en-US" sz="1200" dirty="0"/>
              <a:t>statistical analysis for model output comparison.</a:t>
            </a:r>
            <a:endParaRPr sz="1200" dirty="0"/>
          </a:p>
        </p:txBody>
      </p:sp>
      <p:sp>
        <p:nvSpPr>
          <p:cNvPr id="23" name="Rounded Rectangle 22"/>
          <p:cNvSpPr/>
          <p:nvPr/>
        </p:nvSpPr>
        <p:spPr>
          <a:xfrm>
            <a:off x="7955279" y="1627632"/>
            <a:ext cx="361188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56448" y="1810512"/>
            <a:ext cx="322783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Research question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2238" y="2359831"/>
            <a:ext cx="3132284" cy="134806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How does the TF-IDF representation differ from the transformer representation in terms of recommendation relevance, ranking, diversity, and coverage?</a:t>
            </a:r>
            <a:endParaRPr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594360" y="6620256"/>
            <a:ext cx="59436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Druv • MSc Data Science, AI and Digital Business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6620256"/>
            <a:ext cx="33375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GISMA University of Applied Sciences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40080"/>
            <a:ext cx="106984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Literature Review and Research Gap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338328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792224"/>
            <a:ext cx="299923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Established approaches</a:t>
            </a:r>
          </a:p>
        </p:txBody>
      </p:sp>
      <p:sp>
        <p:nvSpPr>
          <p:cNvPr id="10" name="TextBox 9"/>
          <p:cNvSpPr txBox="1"/>
          <p:nvPr/>
        </p:nvSpPr>
        <p:spPr>
          <a:xfrm flipH="1">
            <a:off x="795527" y="2274851"/>
            <a:ext cx="2999232" cy="279679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/>
              <a:t>Item-based content recommendation uses the features of items as its main input. </a:t>
            </a:r>
            <a:endParaRPr lang="en-US" sz="1200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/>
              <a:t>The </a:t>
            </a:r>
            <a:r>
              <a:rPr lang="en-US" sz="1200" dirty="0"/>
              <a:t>TF-IDF model still remains a good baseline for representing texts sparsely. </a:t>
            </a:r>
            <a:endParaRPr lang="en-US" sz="1200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/>
              <a:t>The </a:t>
            </a:r>
            <a:r>
              <a:rPr lang="en-US" sz="1200" dirty="0" err="1"/>
              <a:t>embeddings</a:t>
            </a:r>
            <a:r>
              <a:rPr lang="en-US" sz="1200" dirty="0"/>
              <a:t> generated from the Transformer models well represent the context-related semantics. </a:t>
            </a:r>
            <a:endParaRPr lang="en-US" sz="1200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/>
              <a:t>Sentiment-aware </a:t>
            </a:r>
            <a:r>
              <a:rPr lang="en-US" sz="1200" dirty="0"/>
              <a:t>models incorporate the user's sentiments in the recommendation process.</a:t>
            </a:r>
            <a:endParaRPr sz="1200" dirty="0"/>
          </a:p>
        </p:txBody>
      </p:sp>
      <p:sp>
        <p:nvSpPr>
          <p:cNvPr id="17" name="Rounded Rectangle 16"/>
          <p:cNvSpPr/>
          <p:nvPr/>
        </p:nvSpPr>
        <p:spPr>
          <a:xfrm>
            <a:off x="4251960" y="1627632"/>
            <a:ext cx="338328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53128" y="1792224"/>
            <a:ext cx="299923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Recent direction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4819" y="2274936"/>
            <a:ext cx="3025480" cy="30716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171450" indent="-17145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400" dirty="0"/>
              <a:t>Deep Learning and Transformer Based Recommenders</a:t>
            </a:r>
          </a:p>
          <a:p>
            <a:pPr marL="171450" indent="-17145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400" dirty="0"/>
              <a:t>Recommendation Pipelines Using Large Language Models</a:t>
            </a:r>
          </a:p>
          <a:p>
            <a:pPr marL="171450" indent="-17145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400" dirty="0"/>
              <a:t>Fairness, Diversity, and Transparency</a:t>
            </a:r>
          </a:p>
          <a:p>
            <a:pPr marL="171450" indent="-17145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400" dirty="0"/>
              <a:t>Hybrid Use of Text-based and Behavioral Features</a:t>
            </a:r>
            <a:endParaRPr sz="1400" dirty="0"/>
          </a:p>
        </p:txBody>
      </p:sp>
      <p:sp>
        <p:nvSpPr>
          <p:cNvPr id="28" name="Rounded Rectangle 27"/>
          <p:cNvSpPr/>
          <p:nvPr/>
        </p:nvSpPr>
        <p:spPr>
          <a:xfrm>
            <a:off x="7909560" y="1627632"/>
            <a:ext cx="365760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10728" y="1810512"/>
            <a:ext cx="327355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Gap addressed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3783" y="2378308"/>
            <a:ext cx="2948299" cy="22841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/>
              <a:t>Comparisons often focus on semantic representation. </a:t>
            </a:r>
            <a:endParaRPr lang="en-US" sz="1400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/>
              <a:t>The </a:t>
            </a:r>
            <a:r>
              <a:rPr lang="en-US" sz="1400" dirty="0"/>
              <a:t>current study compares the two kinds of representation through a controlled pipeline at the product level, providing results for relevance and diversity.</a:t>
            </a:r>
            <a:endParaRPr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40080"/>
            <a:ext cx="106984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Dataset: Amazon Fashion Reviews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25603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219456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ORIGINAL REVIEWS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84832"/>
            <a:ext cx="2194560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Aptos"/>
              </a:rPr>
              <a:t>867,310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9464"/>
            <a:ext cx="219456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raw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27632"/>
            <a:ext cx="25603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1810512"/>
            <a:ext cx="219456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ANALYTICAL REVIEWS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084832"/>
            <a:ext cx="2194560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Aptos"/>
              </a:rPr>
              <a:t>865,852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569464"/>
            <a:ext cx="219456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after cleaning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627632"/>
            <a:ext cx="25603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810512"/>
            <a:ext cx="219456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084832"/>
            <a:ext cx="2194560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Aptos"/>
              </a:rPr>
              <a:t>424,283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569464"/>
            <a:ext cx="219456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recommendation candidates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1627632"/>
            <a:ext cx="27432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06840" y="1810512"/>
            <a:ext cx="237744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RATING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084832"/>
            <a:ext cx="2377440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Aptos"/>
              </a:rPr>
              <a:t>1 –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569464"/>
            <a:ext cx="237744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consumer evaluation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246120"/>
            <a:ext cx="525780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" y="3410712"/>
            <a:ext cx="487375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Core variables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" y="3931920"/>
            <a:ext cx="64008" cy="6400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" y="3867911"/>
            <a:ext cx="465429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 dirty="0">
                <a:solidFill>
                  <a:srgbClr val="475569"/>
                </a:solidFill>
                <a:latin typeface="Aptos"/>
              </a:rPr>
              <a:t>Rating • title • review text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" y="4434840"/>
            <a:ext cx="64008" cy="6400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7552" y="4370831"/>
            <a:ext cx="465429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Product and parent-product identifiers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" y="4937759"/>
            <a:ext cx="64008" cy="6400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7552" y="4873751"/>
            <a:ext cx="465429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Helpful votes and verified purchase status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80760" y="3246120"/>
            <a:ext cx="548640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81928" y="3410712"/>
            <a:ext cx="510235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Derived evaluation signals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0216" y="3931920"/>
            <a:ext cx="64008" cy="6400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73952" y="3867911"/>
            <a:ext cx="488289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Negative: ratings 1–2  |  Neutral: 3  |  Positive: 4–5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0216" y="4434840"/>
            <a:ext cx="64008" cy="6400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73952" y="4370831"/>
            <a:ext cx="488289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Relevance defined from rating-based product evaluation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0216" y="4937759"/>
            <a:ext cx="64008" cy="6400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73952" y="4873751"/>
            <a:ext cx="488289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Product-level aggregation used for recommendation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40080"/>
            <a:ext cx="106984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 dirty="0">
                <a:solidFill>
                  <a:srgbClr val="0F172A"/>
                </a:solidFill>
                <a:latin typeface="Aptos"/>
              </a:rPr>
              <a:t>Research Methodology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1965960" cy="2926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2084831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43891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1554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1" y="3246120"/>
            <a:ext cx="155448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dirty="0"/>
              <a:t>Remove invalid and unusable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6010" y="2907792"/>
            <a:ext cx="2286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600" b="1" dirty="0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874519"/>
            <a:ext cx="1965960" cy="2926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017520" y="2084831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17520" y="2194560"/>
            <a:ext cx="43891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788920"/>
            <a:ext cx="1554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Aggregate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246120"/>
            <a:ext cx="155448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dirty="0"/>
              <a:t>Create product-level text representations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290" y="2907792"/>
            <a:ext cx="2286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600" b="1" dirty="0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1874519"/>
            <a:ext cx="1965960" cy="2926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257800" y="2084831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57800" y="2194560"/>
            <a:ext cx="43891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788920"/>
            <a:ext cx="1554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Encode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1" y="3246120"/>
            <a:ext cx="155448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dirty="0"/>
              <a:t>TF-IDF </a:t>
            </a:r>
            <a:r>
              <a:rPr dirty="0" err="1"/>
              <a:t>vs</a:t>
            </a:r>
            <a:r>
              <a:rPr dirty="0"/>
              <a:t> </a:t>
            </a:r>
            <a:r>
              <a:rPr dirty="0" err="1"/>
              <a:t>MiniLM</a:t>
            </a:r>
            <a:r>
              <a:rPr dirty="0"/>
              <a:t> </a:t>
            </a:r>
            <a:r>
              <a:rPr dirty="0" err="1"/>
              <a:t>embeddings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7066570" y="2907792"/>
            <a:ext cx="2286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600" b="1" dirty="0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874519"/>
            <a:ext cx="1965960" cy="2926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98079" y="2084831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79" y="2194560"/>
            <a:ext cx="43891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788920"/>
            <a:ext cx="1554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3246120"/>
            <a:ext cx="1554480" cy="11633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dirty="0"/>
              <a:t>Similarity-based Top-K recommendation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6850" y="2907792"/>
            <a:ext cx="2286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600" b="1" dirty="0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55480" y="1874519"/>
            <a:ext cx="1965960" cy="2926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738360" y="2084831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38360" y="2194560"/>
            <a:ext cx="43891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788920"/>
            <a:ext cx="1554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Evaluate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3182112"/>
            <a:ext cx="1358552" cy="11633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dirty="0"/>
              <a:t>Relevance, NDCG, diversity,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40080"/>
            <a:ext cx="106984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Experimental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27432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237744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TF-IDF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84832"/>
            <a:ext cx="2377440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Aptos"/>
              </a:rPr>
              <a:t>10,000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9464"/>
            <a:ext cx="237744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sparse lexical representation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627632"/>
            <a:ext cx="27432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1810512"/>
            <a:ext cx="237744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TRANSFORMER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84832"/>
            <a:ext cx="2377440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Aptos"/>
              </a:rPr>
              <a:t>MiniLM-L6-v2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569464"/>
            <a:ext cx="237744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384-dimensional embeddings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627632"/>
            <a:ext cx="2286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1810512"/>
            <a:ext cx="192024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CUT-OFFS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084832"/>
            <a:ext cx="1920240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Aptos"/>
              </a:rPr>
              <a:t>5 / 10 /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569464"/>
            <a:ext cx="192024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Top-K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1627632"/>
            <a:ext cx="26517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98280" y="1810512"/>
            <a:ext cx="22860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STATISTICAL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084832"/>
            <a:ext cx="2286000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Aptos"/>
              </a:rPr>
              <a:t>Wilcoxon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569464"/>
            <a:ext cx="2286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paired comparison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429000"/>
            <a:ext cx="53035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" y="3593592"/>
            <a:ext cx="491947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Controlled comparison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" y="4114800"/>
            <a:ext cx="64008" cy="6400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" y="4050791"/>
            <a:ext cx="470001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Same cleaned data and product-level candidates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" y="4617720"/>
            <a:ext cx="64008" cy="6400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7552" y="4553712"/>
            <a:ext cx="470001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Same ranking and evaluation cut-offs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" y="5120640"/>
            <a:ext cx="64008" cy="6400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7552" y="5056631"/>
            <a:ext cx="470001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Difference isolated to representation approach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80760" y="3429000"/>
            <a:ext cx="548640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81928" y="3593592"/>
            <a:ext cx="510235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Evaluation metrics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0216" y="4114800"/>
            <a:ext cx="64008" cy="6400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73952" y="4050791"/>
            <a:ext cx="488289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Precision@K • Recall@K • NDCG@K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0216" y="4617720"/>
            <a:ext cx="64008" cy="6400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73952" y="4553712"/>
            <a:ext cx="488289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Diversity@K • catalogue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40080"/>
            <a:ext cx="106984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Evaluation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810512"/>
            <a:ext cx="299923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Precision@K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221992"/>
            <a:ext cx="2999232" cy="8686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Relevant recommendations / 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27632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98848" y="1810512"/>
            <a:ext cx="299923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Recall@K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221992"/>
            <a:ext cx="2999232" cy="8686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Relevant items retrieved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27632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810512"/>
            <a:ext cx="299923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NDCG@K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221992"/>
            <a:ext cx="2999232" cy="8686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Ranking quality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93591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3776472"/>
            <a:ext cx="299923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Diversity@K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187952"/>
            <a:ext cx="2999232" cy="8686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Recommendation variety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593591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98848" y="3776472"/>
            <a:ext cx="299923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4187952"/>
            <a:ext cx="2999232" cy="8686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Catalogue reach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40080"/>
            <a:ext cx="106984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Relevance and Ranking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12344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Aptos"/>
              </a:rPr>
              <a:t>Precision@5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19" y="1892807"/>
            <a:ext cx="4846320" cy="38404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874519" y="1892807"/>
            <a:ext cx="4318609" cy="38404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03720" y="1856231"/>
            <a:ext cx="73152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0.4010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892807"/>
            <a:ext cx="3200400" cy="384048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818120" y="1892807"/>
            <a:ext cx="2401011" cy="38404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09960" y="1856231"/>
            <a:ext cx="59436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Aptos"/>
              </a:rPr>
              <a:t>0.3376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12344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Aptos"/>
              </a:rPr>
              <a:t>Precision@10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3035808"/>
            <a:ext cx="4846320" cy="38404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874519" y="3035808"/>
            <a:ext cx="4412305" cy="38404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2999232"/>
            <a:ext cx="73152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0.4097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3035808"/>
            <a:ext cx="3200400" cy="384048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818120" y="3035808"/>
            <a:ext cx="2405278" cy="38404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09960" y="2999232"/>
            <a:ext cx="59436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Aptos"/>
              </a:rPr>
              <a:t>0.3382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60520"/>
            <a:ext cx="12344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Aptos"/>
              </a:rPr>
              <a:t>Precision@20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4178807"/>
            <a:ext cx="4846320" cy="38404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874519" y="4178807"/>
            <a:ext cx="4382150" cy="38404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03720" y="4142232"/>
            <a:ext cx="73152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0.4069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4178807"/>
            <a:ext cx="3200400" cy="384048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818120" y="4178807"/>
            <a:ext cx="2420924" cy="38404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09960" y="4142232"/>
            <a:ext cx="59436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Aptos"/>
              </a:rPr>
              <a:t>0.3404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1572768"/>
            <a:ext cx="9144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Aptos"/>
              </a:rPr>
              <a:t>TF-IDF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1572768"/>
            <a:ext cx="109728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Transformer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07492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28" y="5257800"/>
            <a:ext cx="496519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NDCG@10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" y="5669280"/>
            <a:ext cx="4965192" cy="13715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TF-IDF 0.4073  •  Transformer 0.3393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5074920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73368" y="5257800"/>
            <a:ext cx="501091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Observed pattern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5669280"/>
            <a:ext cx="5010912" cy="13715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TF-IDF produced higher precision and NDCG at every tested 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40080"/>
            <a:ext cx="106984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Diversity and Catalogue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12344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Aptos"/>
              </a:rPr>
              <a:t>Diversity@5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19" y="1847088"/>
            <a:ext cx="4023360" cy="38404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874519" y="1847088"/>
            <a:ext cx="2878249" cy="38404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53328" y="1810512"/>
            <a:ext cx="6858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0.4650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1847088"/>
            <a:ext cx="3657600" cy="384048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086600" y="1847088"/>
            <a:ext cx="1607655" cy="38404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35640" y="1810512"/>
            <a:ext cx="59436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Aptos"/>
              </a:rPr>
              <a:t>0.2857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71800"/>
            <a:ext cx="12344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Aptos"/>
              </a:rPr>
              <a:t>Diversity@10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2990088"/>
            <a:ext cx="4023360" cy="38404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874519" y="2990088"/>
            <a:ext cx="3191452" cy="38404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6858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0.5156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990088"/>
            <a:ext cx="3657600" cy="384048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086600" y="2990088"/>
            <a:ext cx="1714570" cy="38404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35640" y="2953512"/>
            <a:ext cx="59436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Aptos"/>
              </a:rPr>
              <a:t>0.3047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14800"/>
            <a:ext cx="12344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Aptos"/>
              </a:rPr>
              <a:t>Diversity@20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4133087"/>
            <a:ext cx="4023360" cy="38404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874519" y="4133087"/>
            <a:ext cx="3570267" cy="38404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53328" y="4096512"/>
            <a:ext cx="6858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0.5768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4133087"/>
            <a:ext cx="3657600" cy="384048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086600" y="4133087"/>
            <a:ext cx="1820922" cy="38404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835640" y="4096512"/>
            <a:ext cx="59436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Aptos"/>
              </a:rPr>
              <a:t>0.3236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1536192"/>
            <a:ext cx="9144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Aptos"/>
              </a:rPr>
              <a:t>TF-IDF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1536192"/>
            <a:ext cx="109728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Transformer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230368"/>
            <a:ext cx="33832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5413248"/>
            <a:ext cx="301752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CATALOGUE COVERAGE • TF-IDF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687568"/>
            <a:ext cx="3017520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Aptos"/>
              </a:rPr>
              <a:t>0.0414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5230368"/>
            <a:ext cx="33832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89120" y="5413248"/>
            <a:ext cx="301752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CATALOGUE COVERAGE • TRANSFORMER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687568"/>
            <a:ext cx="3017520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Aptos"/>
              </a:rPr>
              <a:t>0.0448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18120" y="5230368"/>
            <a:ext cx="3749039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19288" y="5413248"/>
            <a:ext cx="3364991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Key observation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9288" y="5824728"/>
            <a:ext cx="3364991" cy="13715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Transformer showed slightly higher coverage.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40080"/>
            <a:ext cx="106984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Recall and Statistical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27432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237744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RECALL@5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84832"/>
            <a:ext cx="2377440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Aptos"/>
              </a:rPr>
              <a:t>0.0000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9464"/>
            <a:ext cx="237744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TF-IDF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627632"/>
            <a:ext cx="27432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1810512"/>
            <a:ext cx="237744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RECALL@10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84832"/>
            <a:ext cx="2377440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Aptos"/>
              </a:rPr>
              <a:t>0.0000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569464"/>
            <a:ext cx="237744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TF-IDF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627632"/>
            <a:ext cx="27432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1810512"/>
            <a:ext cx="237744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RECALL@20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084832"/>
            <a:ext cx="2377440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Aptos"/>
              </a:rPr>
              <a:t>0.0001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569464"/>
            <a:ext cx="237744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TF-IDF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1627632"/>
            <a:ext cx="219456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55480" y="1810512"/>
            <a:ext cx="18288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P-VALUES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084832"/>
            <a:ext cx="1828800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Aptos"/>
              </a:rPr>
              <a:t>&lt; 0.001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569464"/>
            <a:ext cx="18288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all tested 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383280"/>
            <a:ext cx="525780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" y="3547872"/>
            <a:ext cx="487375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How to interpret low recall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" y="4005071"/>
            <a:ext cx="4172277" cy="13146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itchFamily="34" charset="0"/>
              <a:buChar char="•"/>
            </a:pPr>
            <a:r>
              <a:rPr sz="1400" dirty="0"/>
              <a:t>The relevant set contains 141,229 </a:t>
            </a:r>
            <a:r>
              <a:rPr sz="1400" dirty="0"/>
              <a:t>products</a:t>
            </a:r>
            <a:endParaRPr lang="en-US" sz="1400" dirty="0"/>
          </a:p>
          <a:p>
            <a:pPr marL="171450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/>
              <a:t>Each query receives only 5–20 recommendations.</a:t>
            </a:r>
          </a:p>
          <a:p>
            <a:pPr marL="171450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/>
              <a:t>Low </a:t>
            </a:r>
            <a:r>
              <a:rPr lang="en-US" sz="1400" dirty="0" err="1"/>
              <a:t>Recall@K</a:t>
            </a:r>
            <a:r>
              <a:rPr lang="en-US" sz="1400" dirty="0"/>
              <a:t> is therefore expected in this offline setup.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80760" y="3383280"/>
            <a:ext cx="548640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81928" y="3547872"/>
            <a:ext cx="510235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Statistical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8026" y="4005071"/>
            <a:ext cx="4851867" cy="16378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itchFamily="34" charset="0"/>
              <a:buChar char="•"/>
            </a:pPr>
            <a:r>
              <a:rPr sz="1400" dirty="0"/>
              <a:t>Wilcoxon signed-rank tests were significant for all reported metric pairs</a:t>
            </a:r>
            <a:r>
              <a:rPr sz="1400" dirty="0"/>
              <a:t>.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/>
              <a:t>This indicates systematic differences between the two approaches in the evaluated sample.</a:t>
            </a:r>
          </a:p>
          <a:p>
            <a:pPr marL="285750" indent="-285750" algn="l">
              <a:lnSpc>
                <a:spcPct val="150000"/>
              </a:lnSpc>
              <a:buFont typeface="Arial" pitchFamily="34" charset="0"/>
              <a:buChar char="•"/>
            </a:pPr>
            <a:endParaRPr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40080"/>
            <a:ext cx="106984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Ratings and Sentiment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25603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219456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MEAN 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84832"/>
            <a:ext cx="2194560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Aptos"/>
              </a:rPr>
              <a:t>2.999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9464"/>
            <a:ext cx="219456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SD 1.414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27632"/>
            <a:ext cx="25603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1810512"/>
            <a:ext cx="219456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NEGATIVE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084832"/>
            <a:ext cx="2194560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Aptos"/>
              </a:rPr>
              <a:t>40.02%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569464"/>
            <a:ext cx="219456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ratings 1–2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627632"/>
            <a:ext cx="25603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810512"/>
            <a:ext cx="219456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NEUTRAL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084832"/>
            <a:ext cx="2194560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Aptos"/>
              </a:rPr>
              <a:t>20.01%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569464"/>
            <a:ext cx="219456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rating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1627632"/>
            <a:ext cx="27432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06840" y="1810512"/>
            <a:ext cx="237744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POSITIVE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084832"/>
            <a:ext cx="2377440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Aptos"/>
              </a:rPr>
              <a:t>39.97%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569464"/>
            <a:ext cx="237744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ratings 4–5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429000"/>
            <a:ext cx="525780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" y="3611880"/>
            <a:ext cx="487375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Sentiment construction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9086" y="4040777"/>
            <a:ext cx="4820194" cy="13018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dirty="0"/>
              <a:t>Sentiment is rating-derived rather than produced by an independently trained text classifier: 1–2 = negative, 3 = neutral, 4–5 = positive.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3429000"/>
            <a:ext cx="548640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81928" y="3611880"/>
            <a:ext cx="510235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Role in the study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0880" y="4064575"/>
            <a:ext cx="4657640" cy="13018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dirty="0"/>
              <a:t>Consumer evaluation is used as an observable signal for product relevance and descriptive analysis alongside review text representation.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40080"/>
            <a:ext cx="106984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Discussion and Key Findings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352044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792224"/>
            <a:ext cx="313639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Finding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49424"/>
            <a:ext cx="3047129" cy="16712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itchFamily="34" charset="0"/>
              <a:buChar char="•"/>
            </a:pPr>
            <a:r>
              <a:rPr sz="1400" dirty="0"/>
              <a:t>TF-IDF achieved higher </a:t>
            </a:r>
            <a:r>
              <a:rPr sz="1400" dirty="0" err="1"/>
              <a:t>Precision@K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/>
              <a:t>TF-IDF achieved higher NDCG@K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/>
              <a:t>The pattern held across K = 5, 10, 20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endParaRPr lang="en-US" sz="1400" dirty="0"/>
          </a:p>
          <a:p>
            <a:pPr marL="285750" indent="-285750" algn="l">
              <a:lnSpc>
                <a:spcPct val="150000"/>
              </a:lnSpc>
              <a:buFont typeface="Arial" pitchFamily="34" charset="0"/>
              <a:buChar char="•"/>
            </a:pPr>
            <a:endParaRPr sz="1400" dirty="0"/>
          </a:p>
        </p:txBody>
      </p:sp>
      <p:sp>
        <p:nvSpPr>
          <p:cNvPr id="15" name="Rounded Rectangle 14"/>
          <p:cNvSpPr/>
          <p:nvPr/>
        </p:nvSpPr>
        <p:spPr>
          <a:xfrm>
            <a:off x="4343400" y="1627632"/>
            <a:ext cx="352044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44568" y="1792224"/>
            <a:ext cx="313639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Finding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249424"/>
            <a:ext cx="3136392" cy="19943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itchFamily="34" charset="0"/>
              <a:buChar char="•"/>
            </a:pPr>
            <a:r>
              <a:rPr sz="1400" dirty="0"/>
              <a:t>TF-IDF also produced higher </a:t>
            </a:r>
            <a:r>
              <a:rPr sz="1400" dirty="0"/>
              <a:t>diversity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/>
              <a:t>Diversity increased as K increased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/>
              <a:t>Transformer had slightly higher coverage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endParaRPr lang="en-US" sz="1400" dirty="0"/>
          </a:p>
          <a:p>
            <a:pPr marL="285750" indent="-285750" algn="l">
              <a:lnSpc>
                <a:spcPct val="150000"/>
              </a:lnSpc>
              <a:buFont typeface="Arial" pitchFamily="34" charset="0"/>
              <a:buChar char="•"/>
            </a:pPr>
            <a:endParaRPr sz="1400" dirty="0"/>
          </a:p>
        </p:txBody>
      </p:sp>
      <p:sp>
        <p:nvSpPr>
          <p:cNvPr id="24" name="Rounded Rectangle 23"/>
          <p:cNvSpPr/>
          <p:nvPr/>
        </p:nvSpPr>
        <p:spPr>
          <a:xfrm>
            <a:off x="8092440" y="1627632"/>
            <a:ext cx="347472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93608" y="1792224"/>
            <a:ext cx="309067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Interpretation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2249424"/>
            <a:ext cx="2809821" cy="264072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itchFamily="34" charset="0"/>
              <a:buChar char="•"/>
            </a:pPr>
            <a:r>
              <a:rPr sz="1400" dirty="0"/>
              <a:t>Results are specific to this dataset and </a:t>
            </a:r>
            <a:r>
              <a:rPr sz="1400" dirty="0"/>
              <a:t>pipeline</a:t>
            </a:r>
            <a:endParaRPr lang="en-US" sz="1400" dirty="0"/>
          </a:p>
          <a:p>
            <a:pPr marL="171450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/>
              <a:t>They do not imply transformers are generally inferior</a:t>
            </a:r>
          </a:p>
          <a:p>
            <a:pPr marL="171450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/>
              <a:t>Representation choice should be evaluated empirically</a:t>
            </a:r>
          </a:p>
          <a:p>
            <a:pPr marL="171450" indent="-171450">
              <a:lnSpc>
                <a:spcPct val="150000"/>
              </a:lnSpc>
              <a:buFont typeface="Arial" pitchFamily="34" charset="0"/>
              <a:buChar char="•"/>
            </a:pPr>
            <a:endParaRPr lang="en-US" sz="1400" dirty="0"/>
          </a:p>
          <a:p>
            <a:pPr marL="171450" indent="-171450" algn="l">
              <a:lnSpc>
                <a:spcPct val="150000"/>
              </a:lnSpc>
              <a:buFont typeface="Arial" pitchFamily="34" charset="0"/>
              <a:buChar char="•"/>
            </a:pPr>
            <a:endParaRPr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40080"/>
            <a:ext cx="106984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Practical Implications and Limitations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530352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792224"/>
            <a:ext cx="491947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 dirty="0">
                <a:solidFill>
                  <a:srgbClr val="0F172A"/>
                </a:solidFill>
                <a:latin typeface="Aptos"/>
              </a:rPr>
              <a:t>Practical implications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3" y="2249424"/>
            <a:ext cx="4727448" cy="264072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/>
              <a:t>Lexical baselines with strong performance remain useful for review-based recommendations. </a:t>
            </a:r>
            <a:endParaRPr lang="en-US" sz="1600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smtClean="0"/>
              <a:t>Diversity </a:t>
            </a:r>
            <a:r>
              <a:rPr lang="en-US" sz="1600" dirty="0"/>
              <a:t>needs to be measured together with relevance. </a:t>
            </a:r>
            <a:endParaRPr lang="en-US" sz="1600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smtClean="0"/>
              <a:t>Off-line </a:t>
            </a:r>
            <a:r>
              <a:rPr lang="en-US" sz="1600" dirty="0"/>
              <a:t>evaluations need to use several metrics. </a:t>
            </a:r>
            <a:endParaRPr lang="en-US" sz="1600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smtClean="0"/>
              <a:t>The </a:t>
            </a:r>
            <a:r>
              <a:rPr lang="en-US" sz="1600" dirty="0"/>
              <a:t>use of statistical testing enhances the scientific process of comparing models.</a:t>
            </a:r>
            <a:endParaRPr sz="1600" dirty="0"/>
          </a:p>
        </p:txBody>
      </p:sp>
      <p:sp>
        <p:nvSpPr>
          <p:cNvPr id="17" name="Rounded Rectangle 16"/>
          <p:cNvSpPr/>
          <p:nvPr/>
        </p:nvSpPr>
        <p:spPr>
          <a:xfrm>
            <a:off x="6080760" y="1627632"/>
            <a:ext cx="548640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1928" y="1792224"/>
            <a:ext cx="510235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Limitations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249423"/>
            <a:ext cx="4727448" cy="33793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There was no data available for any exposure, clicks, or purchases. 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Relevance was measured using ratings and not behavior metrics.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 Sentiment was inferred based on ratings and not via a separate NLP classifier. 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There is no guarantee that offline experiments will translate into online recommendations.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40080"/>
            <a:ext cx="106984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Conclusion and Future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525780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810512"/>
            <a:ext cx="487375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175" y="2405155"/>
            <a:ext cx="5144985" cy="21328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 the Amazon Fashion reviews evaluation dataset and under the product-specific pipeline setup, the TF-IDF outperformed with respect to relevancy and diversity, while the transformer </a:t>
            </a:r>
            <a:r>
              <a:rPr lang="en-US" dirty="0" smtClean="0"/>
              <a:t>embedding's </a:t>
            </a:r>
            <a:r>
              <a:rPr lang="en-US" dirty="0"/>
              <a:t>were superior regarding catalogue coverage.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080760" y="1627632"/>
            <a:ext cx="548640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81928" y="1792224"/>
            <a:ext cx="510235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1685" y="2274976"/>
            <a:ext cx="4481258" cy="33793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/>
              <a:t>Add </a:t>
            </a:r>
            <a:r>
              <a:rPr lang="en-US" sz="1600" dirty="0" err="1"/>
              <a:t>behaviourally</a:t>
            </a:r>
            <a:r>
              <a:rPr lang="en-US" sz="1600" dirty="0"/>
              <a:t>-driven signals, such as click and buy data. </a:t>
            </a:r>
            <a:endParaRPr lang="en-US" sz="1600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smtClean="0"/>
              <a:t>Create </a:t>
            </a:r>
            <a:r>
              <a:rPr lang="en-US" sz="1600" dirty="0"/>
              <a:t>a self-contained sentiment model in text format. </a:t>
            </a:r>
            <a:endParaRPr lang="en-US" sz="1600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smtClean="0"/>
              <a:t>Evaluate </a:t>
            </a:r>
            <a:r>
              <a:rPr lang="en-US" sz="1600" dirty="0"/>
              <a:t>hybrid representation methods with lexical and semantic content. </a:t>
            </a:r>
            <a:endParaRPr lang="en-US" sz="1600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smtClean="0"/>
              <a:t>Utilize </a:t>
            </a:r>
            <a:r>
              <a:rPr lang="en-US" sz="1600" dirty="0"/>
              <a:t>bigger transformer models and </a:t>
            </a:r>
            <a:r>
              <a:rPr lang="en-US" sz="1600" dirty="0" err="1"/>
              <a:t>reranking</a:t>
            </a:r>
            <a:r>
              <a:rPr lang="en-US" sz="1600" dirty="0"/>
              <a:t> algorithms. Verify the findings with online tests or user studies.</a:t>
            </a:r>
            <a:endParaRPr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40080"/>
            <a:ext cx="106984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Anticipated Viva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109728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627632"/>
            <a:ext cx="54864" cy="71323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27432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Why TF-IDF?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37360"/>
            <a:ext cx="74523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It provides a transparent, computationally efficient lexical baseline.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42032"/>
            <a:ext cx="109728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2542032"/>
            <a:ext cx="54864" cy="713232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27432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Why MiniLM?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51760"/>
            <a:ext cx="74523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It provides contextual semantic embeddings at a manageable dimensionality.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56432"/>
            <a:ext cx="109728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4360" y="3456432"/>
            <a:ext cx="54864" cy="71323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27432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Why Recall is near zero?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566160"/>
            <a:ext cx="74523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The relevant catalogue is large relative to a Top-K list of only 5–20 items.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370832"/>
            <a:ext cx="109728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94360" y="4370832"/>
            <a:ext cx="54864" cy="713232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480560"/>
            <a:ext cx="27432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Does this prove TF-IDF is better?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480560"/>
            <a:ext cx="74523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No. The result is specific to this dataset, pipeline and offline evaluation.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285232"/>
            <a:ext cx="109728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94360" y="5285232"/>
            <a:ext cx="54864" cy="71323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394960"/>
            <a:ext cx="27432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How was sentiment obtained?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394960"/>
            <a:ext cx="74523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From ratings: 1–2 negative, 3 neutral, 4–5 positive.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1082</Words>
  <Application>Microsoft Office PowerPoint</Application>
  <PresentationFormat>Custom</PresentationFormat>
  <Paragraphs>225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Amit Sharma</cp:lastModifiedBy>
  <cp:revision>8</cp:revision>
  <dcterms:created xsi:type="dcterms:W3CDTF">2013-01-27T09:14:16Z</dcterms:created>
  <dcterms:modified xsi:type="dcterms:W3CDTF">2026-09-24T08:28:09Z</dcterms:modified>
  <cp:category/>
</cp:coreProperties>
</file>